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0" y="457200"/>
            <a:ext cx="2743200" cy="2743200"/>
          </a:xfrm>
          <a:prstGeom prst="round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0" y="2743200"/>
            <a:ext cx="2331720" cy="2331720"/>
          </a:xfrm>
          <a:prstGeom prst="round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2440" y="4160520"/>
            <a:ext cx="1325880" cy="1325880"/>
          </a:xfrm>
          <a:prstGeom prst="roundRect">
            <a:avLst/>
          </a:prstGeom>
          <a:solidFill>
            <a:srgbClr val="D9F3EE"/>
          </a:solidFill>
          <a:ln>
            <a:solidFill>
              <a:srgbClr val="D9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DE1DD"/>
                </a:solidFill>
                <a:latin typeface="Aptos"/>
              </a:rPr>
              <a:t>SIMHASTHA 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71323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A safer digital</a:t>
            </a:r>
            <a:br/>
            <a:r>
              <a:t>experience for Ujjain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80360"/>
            <a:ext cx="6217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9E2EC"/>
                </a:solidFill>
                <a:latin typeface="Aptos"/>
              </a:rPr>
              <a:t>Sprint 1 solution overview | Public information, maps, CMS and simulated support 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840480"/>
            <a:ext cx="1188720" cy="64008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09651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Foundation prototype • Local Docker deployment • EN + HI scaffold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612648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DE1DD"/>
                </a:solidFill>
                <a:latin typeface="Aptos"/>
              </a:rPr>
              <a:t>Solution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647688"/>
            <a:ext cx="4846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SIMHASTHA 2028  |  SPRINT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29400"/>
            <a:ext cx="411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The challenge: high-stakes information, fragmented journeys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07592"/>
            <a:ext cx="932688" cy="502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73152" cy="182880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For pilgrims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58568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Planning a visit needs one clear place for events, sacred sites, ghats and essential guidance — across languages and devices.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73152" cy="1828800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For administrators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58568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Timely public content needs a controlled workflow, clear roles, and a way to publish updates without code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691640"/>
            <a:ext cx="73152" cy="182880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89280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For public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58568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Digital features must be useful without implying that a prototype is connected to real dispatch, CCTV, or government systems.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C83"/>
                </a:solidFill>
                <a:latin typeface="Aptos"/>
              </a:rPr>
              <a:t>Design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Make verified information easy to find — and make prototype limits impossible to miss.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2064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27D98"/>
                </a:solidFill>
                <a:latin typeface="Aptos"/>
              </a:rPr>
              <a:t>The result is an MVP that improves discoverability today while creating a safe base for operational capabilities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647688"/>
            <a:ext cx="4846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SIMHASTHA 2028  |  SPRINT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29400"/>
            <a:ext cx="411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One platform, designed around the pilgrim journey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07592"/>
            <a:ext cx="932688" cy="502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62763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Navigate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162763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Get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162763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Stay informed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1993392"/>
            <a:ext cx="1051560" cy="1051560"/>
          </a:xfrm>
          <a:prstGeom prst="roundRect">
            <a:avLst/>
          </a:prstGeom>
          <a:solidFill>
            <a:srgbClr val="FCE4C5"/>
          </a:solidFill>
          <a:ln>
            <a:solidFill>
              <a:srgbClr val="FCE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322576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93392"/>
            <a:ext cx="1051560" cy="1051560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322576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1993392"/>
            <a:ext cx="1051560" cy="1051560"/>
          </a:xfrm>
          <a:prstGeom prst="roundRect">
            <a:avLst/>
          </a:prstGeom>
          <a:solidFill>
            <a:srgbClr val="D9F3EE"/>
          </a:solidFill>
          <a:ln>
            <a:solidFill>
              <a:srgbClr val="D9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2322576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5632" y="1993392"/>
            <a:ext cx="1051560" cy="1051560"/>
          </a:xfrm>
          <a:prstGeom prst="roundRect">
            <a:avLst/>
          </a:prstGeom>
          <a:solidFill>
            <a:srgbClr val="FCE4C5"/>
          </a:solidFill>
          <a:ln>
            <a:solidFill>
              <a:srgbClr val="FCE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2322576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468880"/>
            <a:ext cx="502920" cy="4572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2468880"/>
            <a:ext cx="502920" cy="4572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2468880"/>
            <a:ext cx="502920" cy="4572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101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43B53"/>
                </a:solidFill>
                <a:latin typeface="Aptos"/>
              </a:rPr>
              <a:t>Events, temples</a:t>
            </a:r>
            <a:br/>
            <a:r>
              <a:t>and ghats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3101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43B53"/>
                </a:solidFill>
                <a:latin typeface="Aptos"/>
              </a:rPr>
              <a:t>Interactive map</a:t>
            </a:r>
            <a:br/>
            <a:r>
              <a:t>and place layers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3101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43B53"/>
                </a:solidFill>
                <a:latin typeface="Aptos"/>
              </a:rPr>
              <a:t>Directory, SOS,</a:t>
            </a:r>
            <a:br/>
            <a:r>
              <a:t>case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3101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43B53"/>
                </a:solidFill>
                <a:latin typeface="Aptos"/>
              </a:rPr>
              <a:t>Announcements</a:t>
            </a:r>
            <a:br/>
            <a:r>
              <a:t>and CMS updates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4526280"/>
            <a:ext cx="10012680" cy="713232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78231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Shared foundations: mobile-first UI  •  English/Hindi scaffold  •  accessibility-aware components  •  role-based CMS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647688"/>
            <a:ext cx="4846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SIMHASTHA 2028  |  SPRINT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29400"/>
            <a:ext cx="411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WHAT USERS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A practical MVP for public discovery and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07592"/>
            <a:ext cx="932688" cy="502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2432304" cy="1417320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01368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7C83"/>
                </a:solidFill>
                <a:latin typeface="Aptos"/>
              </a:rPr>
              <a:t>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810512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Calendar &amp;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2029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Browse CMS-sourced event listings with category filters and freshness timestamps.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600200"/>
            <a:ext cx="2432304" cy="1417320"/>
          </a:xfrm>
          <a:prstGeom prst="roundRect">
            <a:avLst/>
          </a:prstGeom>
          <a:solidFill>
            <a:srgbClr val="D9F3EE"/>
          </a:solidFill>
          <a:ln>
            <a:solidFill>
              <a:srgbClr val="D9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801368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7C83"/>
                </a:solidFill>
                <a:latin typeface="Aptos"/>
              </a:rPr>
              <a:t>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810512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Map &amp; 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267712"/>
            <a:ext cx="2029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View temple, ghat and emergency layers on a MapLibre + OpenStreetMap 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34456" y="1600200"/>
            <a:ext cx="2432304" cy="1417320"/>
          </a:xfrm>
          <a:prstGeom prst="roundRect">
            <a:avLst/>
          </a:prstGeom>
          <a:solidFill>
            <a:srgbClr val="FCE4C5"/>
          </a:solidFill>
          <a:ln>
            <a:solidFill>
              <a:srgbClr val="FCE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1801368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E47B22"/>
                </a:solidFill>
                <a:latin typeface="Aptos"/>
              </a:rPr>
              <a:t>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1810512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Sacred-site directory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67712"/>
            <a:ext cx="2029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Explore nine named temple profiles and basic ghat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58784" y="1600200"/>
            <a:ext cx="2432304" cy="1417320"/>
          </a:xfrm>
          <a:prstGeom prst="round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1801368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7C83"/>
                </a:solidFill>
                <a:latin typeface="Apto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1810512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Emergency directory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1663" y="2267712"/>
            <a:ext cx="2029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Find clearly marked demo directory entries and a simulated SOS flow.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02536" y="3401568"/>
            <a:ext cx="2432304" cy="1417320"/>
          </a:xfrm>
          <a:prstGeom prst="roundRect">
            <a:avLst/>
          </a:prstGeom>
          <a:solidFill>
            <a:srgbClr val="D9F3EE"/>
          </a:solidFill>
          <a:ln>
            <a:solidFill>
              <a:srgbClr val="D9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7128" y="360273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7C83"/>
                </a:solidFill>
                <a:latin typeface="Aptos"/>
              </a:rPr>
              <a:t>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4328" y="3611880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Lost &amp; 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85416" y="4069080"/>
            <a:ext cx="2029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Submit a report and check progress using a private, opaque reference.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26864" y="3401568"/>
            <a:ext cx="2432304" cy="1417320"/>
          </a:xfrm>
          <a:prstGeom prst="round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5" y="360273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7C83"/>
                </a:solidFill>
                <a:latin typeface="Aptos"/>
              </a:rPr>
              <a:t>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8655" y="3611880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Missing-person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744" y="4069080"/>
            <a:ext cx="2029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Submit a consent-based report; public lookup exposes only status and timestamps.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51192" y="3401568"/>
            <a:ext cx="2432304" cy="1417320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15783" y="360273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7C83"/>
                </a:solidFill>
                <a:latin typeface="Aptos"/>
              </a:rPr>
              <a:t>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3611880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Admin CMS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4071" y="4069080"/>
            <a:ext cx="2029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3B53"/>
                </a:solidFill>
                <a:latin typeface="Aptos"/>
              </a:rPr>
              <a:t>Login, manage content, and move events, temples, ghats and announcements through publish states.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577840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27D98"/>
                </a:solidFill>
                <a:latin typeface="Aptos"/>
              </a:rPr>
              <a:t>Persistent emergency access and mobile-friendly forms are built into the public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647688"/>
            <a:ext cx="4846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SIMHASTHA 2028  |  SPRINT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29400"/>
            <a:ext cx="411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TRUST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Safety and privacy are product features — not footnotes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07592"/>
            <a:ext cx="932688" cy="502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3246120" cy="3611880"/>
          </a:xfrm>
          <a:prstGeom prst="roundRect">
            <a:avLst/>
          </a:prstGeom>
          <a:solidFill>
            <a:srgbClr val="FDECEC"/>
          </a:solidFill>
          <a:ln>
            <a:solidFill>
              <a:srgbClr val="F3B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B42318"/>
                </a:solidFill>
                <a:latin typeface="Aptos"/>
              </a:rPr>
              <a:t>SIMULATED,</a:t>
            </a:r>
            <a:br/>
            <a:r>
              <a:t>NOT DISPATCHED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43B53"/>
                </a:solidFill>
                <a:latin typeface="Aptos"/>
              </a:rPr>
              <a:t>SOS records stay inside the prototype. No police, ambulance, fire, CCTV or government system is notified.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89120"/>
            <a:ext cx="2697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42318"/>
                </a:solidFill>
                <a:latin typeface="Aptos"/>
              </a:rPr>
              <a:t>Visible safety banners appear on every critical screen and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73152" cy="155448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01368"/>
            <a:ext cx="2834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Data minimisation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67128"/>
            <a:ext cx="2834639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Missing-person public status checks never expose a name, photo, location, contact details or search/listing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002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600200"/>
            <a:ext cx="73152" cy="1554480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801368"/>
            <a:ext cx="2834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Opaque case 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67128"/>
            <a:ext cx="2834639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Cryptographically random references support follow-up without sequential IDs that could enable case enumeration.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576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657600"/>
            <a:ext cx="73152" cy="155448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58768"/>
            <a:ext cx="2834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Honest prototype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24528"/>
            <a:ext cx="2834639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Seeded emergency numbers are non-routable placeholders. Temple and event information is flagged as placeholder until verified.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6576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657600"/>
            <a:ext cx="73152" cy="155448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58768"/>
            <a:ext cx="2834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Controlled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24528"/>
            <a:ext cx="2834639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JWT authentication and role-based admin access separate public viewing from content operations and case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647688"/>
            <a:ext cx="4846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SIMHASTHA 2028  |  SPRINT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29400"/>
            <a:ext cx="411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A modular, locally runnable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07592"/>
            <a:ext cx="932688" cy="502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6720840" cy="822960"/>
          </a:xfrm>
          <a:prstGeom prst="round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76479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Public web + Admin CMS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783080"/>
            <a:ext cx="39776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Next.js • React • TypeScript • Tailwind • next-intl • MapLibre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24328"/>
            <a:ext cx="6720840" cy="82296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Application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807208"/>
            <a:ext cx="39776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FastAPI • Pydantic validation • JWT/RBAC • OpenAPI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48456"/>
            <a:ext cx="6720840" cy="822960"/>
          </a:xfrm>
          <a:prstGeom prst="round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813048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Data &amp;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3831336"/>
            <a:ext cx="39776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PostgreSQL + PostGIS • Redis • Alembic migrations • audit 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600200"/>
            <a:ext cx="29718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892807"/>
            <a:ext cx="2423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7C83"/>
                </a:solidFill>
                <a:latin typeface="Aptos"/>
              </a:rPr>
              <a:t>LOCAL DEV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04872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02A43"/>
                </a:solidFill>
                <a:latin typeface="Aptos"/>
              </a:rPr>
              <a:t>Docker 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92608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27D98"/>
                </a:solidFill>
                <a:latin typeface="Aptos"/>
              </a:rPr>
              <a:t>PostGIS  •  Redis</a:t>
            </a:r>
            <a:br/>
            <a:r>
              <a:t>FastAPI  •  Next.js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767328"/>
            <a:ext cx="2423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43B53"/>
                </a:solidFill>
                <a:latin typeface="Aptos"/>
              </a:rPr>
              <a:t>One-command start/stop scripts for local operation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27D98"/>
                </a:solidFill>
                <a:latin typeface="Aptos"/>
              </a:rPr>
              <a:t>Designed as a foundation: clear API contracts and separable services make later integrations easier to govern.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647688"/>
            <a:ext cx="4846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SIMHASTHA 2028  |  SPRINT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29400"/>
            <a:ext cx="411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CMS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A content operating model, not hard-coded pages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07592"/>
            <a:ext cx="932688" cy="502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3852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37360"/>
            <a:ext cx="749808" cy="749808"/>
          </a:xfrm>
          <a:prstGeom prst="round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24912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035808"/>
            <a:ext cx="1554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Events, announcements, temples and ghats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8" y="2075688"/>
            <a:ext cx="1143000" cy="5486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075688"/>
            <a:ext cx="1143000" cy="5486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01968" y="2075688"/>
            <a:ext cx="1143000" cy="5486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4640" y="1737360"/>
            <a:ext cx="749808" cy="749808"/>
          </a:xfrm>
          <a:prstGeom prst="round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193852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24912"/>
            <a:ext cx="106070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035808"/>
            <a:ext cx="1463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Role-gated access</a:t>
            </a:r>
            <a:br/>
            <a:r>
              <a:t>for content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737360"/>
            <a:ext cx="749808" cy="749808"/>
          </a:xfrm>
          <a:prstGeom prst="round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193852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2724912"/>
            <a:ext cx="106070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Publish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3035808"/>
            <a:ext cx="1463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Draft → published</a:t>
            </a:r>
            <a:br/>
            <a:r>
              <a:t>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737360"/>
            <a:ext cx="749808" cy="749808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512" y="193852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724912"/>
            <a:ext cx="106070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035808"/>
            <a:ext cx="1463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Sensitive-case and</a:t>
            </a:r>
            <a:br/>
            <a:r>
              <a:t>publish actions logged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343400"/>
            <a:ext cx="10469880" cy="768096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590288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Roles available 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590288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C83"/>
                </a:solidFill>
                <a:latin typeface="Aptos"/>
              </a:rPr>
              <a:t>Super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4590288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C83"/>
                </a:solidFill>
                <a:latin typeface="Aptos"/>
              </a:rPr>
              <a:t>Content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590288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C83"/>
                </a:solidFill>
                <a:latin typeface="Aptos"/>
              </a:rPr>
              <a:t>Public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882896"/>
            <a:ext cx="8869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Role model is structured to extend for operations teams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647688"/>
            <a:ext cx="4846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SIMHASTHA 2028  |  SPRINT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29400"/>
            <a:ext cx="411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SPRINT 1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Foundation delivered: testable, working MVP slices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07592"/>
            <a:ext cx="932688" cy="502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65376"/>
            <a:ext cx="2423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7C83"/>
                </a:solidFill>
                <a:latin typeface="Aptos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40864"/>
            <a:ext cx="2423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named temple</a:t>
            </a:r>
            <a:br/>
            <a:r>
              <a:t>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6459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865376"/>
            <a:ext cx="2423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7C83"/>
                </a:solidFill>
                <a:latin typeface="Aptos"/>
              </a:rPr>
              <a:t>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340864"/>
            <a:ext cx="2423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backend tests</a:t>
            </a:r>
            <a:br/>
            <a:r>
              <a:t>passing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459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865376"/>
            <a:ext cx="2423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7C83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340864"/>
            <a:ext cx="2423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local Docker</a:t>
            </a:r>
            <a:br/>
            <a:r>
              <a:t>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16459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1865376"/>
            <a:ext cx="2423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7C83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2340864"/>
            <a:ext cx="2423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7D98"/>
                </a:solidFill>
                <a:latin typeface="Aptos"/>
              </a:rPr>
              <a:t>locales in the</a:t>
            </a:r>
            <a:br/>
            <a:r>
              <a:t>i18n scaffold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65760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657600"/>
            <a:ext cx="73152" cy="1280160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858768"/>
            <a:ext cx="2834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Public API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24528"/>
            <a:ext cx="2834639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Events • temples • ghats • emergency directory • SOS • lost &amp; found • missing-person status lookups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365760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62272" y="3657600"/>
            <a:ext cx="73152" cy="1280160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3858768"/>
            <a:ext cx="2834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Quality 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224528"/>
            <a:ext cx="2834639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Input validation, access-control checks, privacy regression tests, audit records and safety-notice assertions.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365760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3657600"/>
            <a:ext cx="73152" cy="128016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3858768"/>
            <a:ext cx="2834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Developer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4224528"/>
            <a:ext cx="2834639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Aptos"/>
              </a:rPr>
              <a:t>Docker Compose stack, migrations, idempotent seed data, API docs, plus start/stop scripts for local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647688"/>
            <a:ext cx="4846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SIMHASTHA 2028  |  SPRINT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29400"/>
            <a:ext cx="411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RESPONSIBLE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What this solution deliberately does not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07592"/>
            <a:ext cx="932688" cy="502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074920" cy="3520440"/>
          </a:xfrm>
          <a:prstGeom prst="roundRect">
            <a:avLst/>
          </a:prstGeom>
          <a:solidFill>
            <a:srgbClr val="FDECEC"/>
          </a:solidFill>
          <a:ln>
            <a:solidFill>
              <a:srgbClr val="F3B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4526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B42318"/>
                </a:solidFill>
                <a:latin typeface="Aptos"/>
              </a:rPr>
              <a:t>NOT LIVE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201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47B2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487168"/>
            <a:ext cx="4142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43B53"/>
                </a:solidFill>
                <a:latin typeface="Aptos"/>
              </a:rPr>
              <a:t>No live emergency dispatch or responder 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201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47B2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017520"/>
            <a:ext cx="4142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43B53"/>
                </a:solidFill>
                <a:latin typeface="Aptos"/>
              </a:rPr>
              <a:t>No real emergency numbers or government-system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201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47B2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547872"/>
            <a:ext cx="4142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43B53"/>
                </a:solidFill>
                <a:latin typeface="Aptos"/>
              </a:rPr>
              <a:t>No CCTV, biometrics, facial recognition or crowd 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78224"/>
            <a:ext cx="201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47B22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078224"/>
            <a:ext cx="4142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43B53"/>
                </a:solidFill>
                <a:latin typeface="Aptos"/>
              </a:rPr>
              <a:t>No fabricated crowd, traffic, parking or verified timetable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00200"/>
            <a:ext cx="5074920" cy="3520440"/>
          </a:xfrm>
          <a:prstGeom prst="roundRect">
            <a:avLst/>
          </a:prstGeom>
          <a:solidFill>
            <a:srgbClr val="D9F3EE"/>
          </a:solidFill>
          <a:ln>
            <a:solidFill>
              <a:srgbClr val="A8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901952"/>
            <a:ext cx="4526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07C83"/>
                </a:solidFill>
                <a:latin typeface="Aptos"/>
              </a:rPr>
              <a:t>A FOUNDATION FOR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487168"/>
            <a:ext cx="201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47B22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2487168"/>
            <a:ext cx="4142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43B53"/>
                </a:solidFill>
                <a:latin typeface="Aptos"/>
              </a:rPr>
              <a:t>Governed integration with approved departments and data owners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017520"/>
            <a:ext cx="201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47B22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017520"/>
            <a:ext cx="4142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43B53"/>
                </a:solidFill>
                <a:latin typeface="Aptos"/>
              </a:rPr>
              <a:t>Verified content and multilingual review processes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547872"/>
            <a:ext cx="201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47B2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547872"/>
            <a:ext cx="4142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43B53"/>
                </a:solidFill>
                <a:latin typeface="Aptos"/>
              </a:rPr>
              <a:t>Live-map, routing, transport and parking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078224"/>
            <a:ext cx="201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47B22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4078224"/>
            <a:ext cx="4142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43B53"/>
                </a:solidFill>
                <a:latin typeface="Aptos"/>
              </a:rPr>
              <a:t>Operational workflows only after policy, safety and procurement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Clear boundaries protect users now and prevent a prototype from being mistaken for an operational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647688"/>
            <a:ext cx="4846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SIMHASTHA 2028  |  SPRINT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29400"/>
            <a:ext cx="411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A staged path from foundation to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07592"/>
            <a:ext cx="932688" cy="502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2606040" cy="164592"/>
          </a:xfrm>
          <a:prstGeom prst="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84831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7C83"/>
                </a:solidFill>
                <a:latin typeface="Aptos"/>
              </a:rPr>
              <a:t>SPRINT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41448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063240"/>
            <a:ext cx="217627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Public site • CMS • master data • map • simulated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69164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1691640"/>
            <a:ext cx="2606040" cy="1645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084831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47B22"/>
                </a:solidFill>
                <a:latin typeface="Aptos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441448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Pilgrim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063240"/>
            <a:ext cx="217627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Trip planner • live-map upgrades • parking • transport • PWA • AI assistant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9164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691640"/>
            <a:ext cx="2606040" cy="16459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084831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Aptos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441448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063240"/>
            <a:ext cx="217627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Command centre • crowd analytics • traffic • incident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69164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691640"/>
            <a:ext cx="2606040" cy="164592"/>
          </a:xfrm>
          <a:prstGeom prst="rect">
            <a:avLst/>
          </a:prstGeom>
          <a:solidFill>
            <a:srgbClr val="506D85"/>
          </a:solidFill>
          <a:ln>
            <a:solidFill>
              <a:srgbClr val="506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2084831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06D85"/>
                </a:solidFill>
                <a:latin typeface="Aptos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2441448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Event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3063240"/>
            <a:ext cx="217627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Real-time monitoring • alerts • operational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2"/>
            <a:ext cx="10561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Progression principle: add real-time capabilities only with authoritative data, explicit governance, and operational ownership.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DE1DD"/>
                </a:solidFill>
                <a:latin typeface="Aptos"/>
              </a:rPr>
              <a:t>THE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406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A credible digital starting point</a:t>
            </a:r>
            <a:br/>
            <a:r>
              <a:t>for Simhastha 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971800"/>
            <a:ext cx="7040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9E2EC"/>
                </a:solidFill>
                <a:latin typeface="Aptos"/>
              </a:rPr>
              <a:t>The platform makes important information easier to discover, gives content teams a practical operating layer, and treats safety and privacy as non-negotiable design constraints.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4224528"/>
            <a:ext cx="6766560" cy="658368"/>
          </a:xfrm>
          <a:prstGeom prst="round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43984"/>
            <a:ext cx="6355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Next: validate content owners, integration governance, and Phase 2 priorities.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188720"/>
            <a:ext cx="2331720" cy="2331720"/>
          </a:xfrm>
          <a:prstGeom prst="roundRect">
            <a:avLst/>
          </a:prstGeom>
          <a:solidFill>
            <a:srgbClr val="007C83"/>
          </a:solidFill>
          <a:ln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0" y="3063240"/>
            <a:ext cx="1600200" cy="1600200"/>
          </a:xfrm>
          <a:prstGeom prst="roundRect">
            <a:avLst/>
          </a:prstGeom>
          <a:solidFill>
            <a:srgbClr val="E47B22"/>
          </a:solidFill>
          <a:ln>
            <a:solidFill>
              <a:srgbClr val="E4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4251960"/>
            <a:ext cx="1051560" cy="1051560"/>
          </a:xfrm>
          <a:prstGeom prst="roundRect">
            <a:avLst/>
          </a:prstGeom>
          <a:solidFill>
            <a:srgbClr val="D9F3EE"/>
          </a:solidFill>
          <a:ln>
            <a:solidFill>
              <a:srgbClr val="D9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98932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DE1DD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Simhastha 2028 - Sprint 1 Solution Overview</dc:title>
  <dc:subject>Digital Experience Platform prototype</dc:subject>
  <dc:creator>Simhastha 2028 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